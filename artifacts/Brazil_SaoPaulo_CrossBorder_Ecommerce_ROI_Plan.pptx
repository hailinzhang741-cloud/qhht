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919B"/>
                </a:solidFill>
                <a:latin typeface="Microsoft YaHei"/>
                <a:ea typeface="Microsoft YaHei"/>
              </a:rPr>
              <a:t>INVESTMENT RETURN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巴西圣保罗跨境电商
投资回报与可行性计划书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D5D7"/>
                </a:solidFill>
                <a:latin typeface="Microsoft YaHei"/>
                <a:ea typeface="Microsoft YaHei"/>
              </a:rPr>
              <a:t>品类：情趣用品  ·  小家电  ·  宠物用品  |  落地点：圣保罗（华人聚集核心城市）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合伙人本地资源：巴西工作 1 年+ · 熟悉风土人情与居民消费
编制日期：2026年09月  |  情景测算基于 Remessa Conforme 现行税制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852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建议阅读时长 15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目录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本计划书按「市场 → 分品类可行性 → 成本利润 → 投资回报 → 执行路径」展开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9728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737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E4A"/>
                </a:solidFill>
                <a:latin typeface="Microsoft YaHei"/>
                <a:ea typeface="Microsoft YaHei"/>
              </a:rPr>
              <a:t>战略背景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645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圣保罗华人生态、跨境窗口期、商业模式选型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109728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737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286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E4A"/>
                </a:solidFill>
                <a:latin typeface="Microsoft YaHei"/>
                <a:ea typeface="Microsoft YaHei"/>
              </a:rPr>
              <a:t>三类商品可行性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06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情趣用品 / 小家电 / 宠物用品 独立评估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0896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109728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461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737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246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E4A"/>
                </a:solidFill>
                <a:latin typeface="Microsoft YaHei"/>
                <a:ea typeface="Microsoft YaHei"/>
              </a:rPr>
              <a:t>成本与利润拆解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566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采购、物流、税费、运营、毛利与净利模型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109728" cy="82296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737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E4A"/>
                </a:solidFill>
                <a:latin typeface="Microsoft YaHei"/>
                <a:ea typeface="Microsoft YaHei"/>
              </a:rPr>
              <a:t>投资回报计划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526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启动资金、12–24 个月现金流与 ROI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1124712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109728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737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166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E4A"/>
                </a:solidFill>
                <a:latin typeface="Microsoft YaHei"/>
                <a:ea typeface="Microsoft YaHei"/>
              </a:rPr>
              <a:t>风险与执行建议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合规、供应链、排期与优先级建议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01 · 为什么是圣保罗？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拉美最大华人聚集地 + 巴西最大消费与物流枢纽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36576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3657600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E4A"/>
                </a:solidFill>
                <a:latin typeface="Microsoft YaHei"/>
                <a:ea typeface="Microsoft YaHei"/>
              </a:rPr>
              <a:t>华人生态优势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Liberdade（自由区）等华人商圈成熟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供应链、货代、汇兑、仓储配套齐全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中文协作与信任成本更低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朋友本地 1 年+：选品、议价、售后更准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6576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43000"/>
            <a:ext cx="3657600" cy="10972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E4A"/>
                </a:solidFill>
                <a:latin typeface="Microsoft YaHei"/>
                <a:ea typeface="Microsoft YaHei"/>
              </a:rPr>
              <a:t>消费市场体量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圣保罗州约占巴西 GDP 约 1/3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电商渗透高，ML / Shopee / Amazon 活跃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中产与年轻人群对进口品质敏感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宠物经济、家电换新、私密消费均增长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43000"/>
            <a:ext cx="36576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3657600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E4A"/>
                </a:solidFill>
                <a:latin typeface="Microsoft YaHei"/>
                <a:ea typeface="Microsoft YaHei"/>
              </a:rPr>
              <a:t>跨境窗口期（2026）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116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≤US$50 联邦进口税归零（Remessa Conforme）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仍缴州 ICMS（圣保罗约 17%–18%）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US$50–3000 联邦税率下调至约 30%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小额件流量回升，价格敏感品类受益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01 · 建议商业模式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双轨并行：跨境直邮引流 + 本地备货做复购（朋友优势最大化）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57784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7377"/>
                </a:solidFill>
                <a:latin typeface="Microsoft YaHei"/>
                <a:ea typeface="Microsoft YaHei"/>
              </a:rPr>
              <a:t>模式 A：跨境直邮（轻资产启动）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• 中国仓发货 → Remessa Conforme 合规平台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• 适合：轻小件、客单价 US$15–45（控税）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• 优点：库存风险低、测试选品快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• 缺点：时效 15–35 天、退货难、体验一般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• 平台：Shopee / AliExpress / Mercado Livre 跨境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建议：前 3 个月以直邮测品为主，验证爆款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57784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5C26"/>
                </a:solidFill>
                <a:latin typeface="Microsoft YaHei"/>
                <a:ea typeface="Microsoft YaHei"/>
              </a:rPr>
              <a:t>模式 B：圣保罗本地备货（朋友落地）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• 海运/空运整柜 → SP 华人仓 / 第三方仓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• 适合：小家电、宠物耗材、复购品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• 优点：3–7 天达、可做直播/线下分销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• 缺点：资金占用、清关与仓储成本高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• 渠道：ML 本本、Shopee 本本、微信社群、华人批发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YaHei"/>
                <a:ea typeface="Microsoft YaHei"/>
              </a:rPr>
              <a:t>建议：月销验证后，爆款转本地备货提转化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02 · 三类商品可行性总览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独立评分（满分 10）：越高越适合当前团队优先投入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11430000" cy="411480"/>
          </a:xfrm>
          <a:prstGeom prst="round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评估维度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情趣用品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小家电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宠物用品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27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市场需求热度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627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8.5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27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7.5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627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9.0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057400"/>
            <a:ext cx="11430000" cy="475488"/>
          </a:xfrm>
          <a:prstGeom prst="rect">
            <a:avLst/>
          </a:prstGeom>
          <a:solidFill>
            <a:srgbClr val="E6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毛利率潜力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9.0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6.0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130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7.5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60320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33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物流适配性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633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9.0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33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4.5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6334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7.0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63240"/>
            <a:ext cx="11430000" cy="475488"/>
          </a:xfrm>
          <a:prstGeom prst="rect">
            <a:avLst/>
          </a:prstGeom>
          <a:solidFill>
            <a:srgbClr val="E6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136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合规/敏感风险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136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5.0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136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7.0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136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8.5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639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竞争激烈度(低分=卷)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639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6.5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639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4.0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639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5.5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069080"/>
            <a:ext cx="11430000" cy="475488"/>
          </a:xfrm>
          <a:prstGeom prst="rect">
            <a:avLst/>
          </a:prstGeom>
          <a:solidFill>
            <a:srgbClr val="E6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142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朋友本地优势匹配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42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7.0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142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7.5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4142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9.0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572000"/>
            <a:ext cx="11430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645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启动资金门槛(高分=低)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4645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8.5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645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5.0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4645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7.0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074920"/>
            <a:ext cx="11430000" cy="475488"/>
          </a:xfrm>
          <a:prstGeom prst="rect">
            <a:avLst/>
          </a:prstGeom>
          <a:solidFill>
            <a:srgbClr val="F8F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148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综合可行性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5148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7.6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148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5.9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5148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7.6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577840"/>
            <a:ext cx="11430000" cy="475488"/>
          </a:xfrm>
          <a:prstGeom prst="rect">
            <a:avLst/>
          </a:prstGeom>
          <a:solidFill>
            <a:srgbClr val="F8F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650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优先级建议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5650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优先并行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650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谨慎精选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56509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优先并行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02A · 情趣用品：可行性评估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高毛利 · 轻小件 · 隐私强需求 —— 适合跨境直邮先行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56692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2E4A"/>
                </a:solidFill>
                <a:latin typeface="Microsoft YaHei"/>
                <a:ea typeface="Microsoft YaHei"/>
              </a:rPr>
              <a:t>市场机会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巴西私密消费接受度较高，圣保罗年轻人口密集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本地实体店溢价高、品类窄；跨境性价比差明显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客单价易控在 US$20–45，契合 ≤US$50 免税窗口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E4A"/>
                </a:solidFill>
                <a:latin typeface="Microsoft YaHei"/>
                <a:ea typeface="Microsoft YaHei"/>
              </a:rPr>
              <a:t>产品建议（先测）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入门：润滑、安全套组合、跳蛋、按摩棒入门款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进阶：APP 遥控、情侣套装、护理清洁周边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避开：液体过大、电池复杂、露骨包装难过检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532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C45C26"/>
                </a:solidFill>
                <a:latin typeface="Microsoft YaHei"/>
                <a:ea typeface="Microsoft YaHei"/>
              </a:rPr>
              <a:t>关键风险与对策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平台审核：需合规标题/主图，避免违规词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隐私物流：中性外包装、无品名印刷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售后敏感：清晰葡语说明书、退换政策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品牌信任：优先贴牌/已有 CE/RoHS 证书货源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D6A4F"/>
                </a:solidFill>
                <a:latin typeface="Microsoft YaHei"/>
                <a:ea typeface="Microsoft YaHei"/>
              </a:rPr>
              <a:t>结论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D7377"/>
                </a:solidFill>
                <a:latin typeface="Microsoft YaHei"/>
                <a:ea typeface="Microsoft YaHei"/>
              </a:rPr>
              <a:t>可行性：高（7.6/10）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建议：首年核心现金流品类，直邮测款→爆款本地小批量备货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目标毛利率：55%–70%（货源到仓成本口径）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02A · 情趣用品：成本与利润拆解（单件示例）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假设爆款「入门按摩棒」：采购 ¥35 ≈ R$28；售价 R$129（约 US$25）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E4A"/>
                </a:solidFill>
                <a:latin typeface="Microsoft YaHei"/>
                <a:ea typeface="Microsoft YaHei"/>
              </a:rPr>
              <a:t>单件成本结构（售价 R$129）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中国采购成本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916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R$ 28.0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21.7%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头程/国际运费+包装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377"/>
                </a:solidFill>
                <a:latin typeface="Microsoft YaHei"/>
                <a:ea typeface="Microsoft YaHei"/>
              </a:rPr>
              <a:t>R$ 12.0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联邦进口税（≤US$50）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97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97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ICMS（约 17%）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00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Microsoft YaHei"/>
                <a:ea typeface="Microsoft YaHei"/>
              </a:rPr>
              <a:t>R$ 18.7*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14.5%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平台佣金+支付（约 16%）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703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R$ 20.6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703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16.0%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广告投放（约 12%）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206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33A3A"/>
                </a:solidFill>
                <a:latin typeface="Microsoft YaHei"/>
                <a:ea typeface="Microsoft YaHei"/>
              </a:rPr>
              <a:t>R$ 15.5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12.0%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09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客服/损耗/退货预留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709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5A5A"/>
                </a:solidFill>
                <a:latin typeface="Microsoft YaHei"/>
                <a:ea typeface="Microsoft YaHei"/>
              </a:rPr>
              <a:t>R$ 6.5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09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5.0%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1097280"/>
            <a:ext cx="4343400" cy="5029200"/>
          </a:xfrm>
          <a:prstGeom prst="round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79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单件利润测算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5D7"/>
                </a:solidFill>
                <a:latin typeface="Microsoft YaHei"/>
                <a:ea typeface="Microsoft YaHei"/>
              </a:rPr>
              <a:t>售价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965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R$ 129.0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2441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5D7"/>
                </a:solidFill>
                <a:latin typeface="Microsoft YaHei"/>
                <a:ea typeface="Microsoft YaHei"/>
              </a:rPr>
              <a:t>变动成本合计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441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R$ 101.3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29169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5D7"/>
                </a:solidFill>
                <a:latin typeface="Microsoft YaHei"/>
                <a:ea typeface="Microsoft YaHei"/>
              </a:rPr>
              <a:t>单件贡献毛利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9169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R$ 27.7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33924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5D7"/>
                </a:solidFill>
                <a:latin typeface="Microsoft YaHei"/>
                <a:ea typeface="Microsoft YaHei"/>
              </a:rPr>
              <a:t>贡献毛利率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3924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约 21.5%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3867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5D7"/>
                </a:solidFill>
                <a:latin typeface="Microsoft YaHei"/>
                <a:ea typeface="Microsoft YaHei"/>
              </a:rPr>
              <a:t>月销 800 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867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毛利 ≈ R$ 22,160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D5D7"/>
                </a:solidFill>
                <a:latin typeface="Microsoft YaHei"/>
                <a:ea typeface="Microsoft YaHei"/>
              </a:rPr>
              <a:t>月销 1,500 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343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毛利 ≈ R$ 41,550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53949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D5D7"/>
                </a:solidFill>
                <a:latin typeface="Microsoft YaHei"/>
                <a:ea typeface="Microsoft YaHei"/>
              </a:rPr>
              <a:t>*ICMS 由买家或平台代扣，口径因平台而异；此处按含税展示价内化估算。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02B · 小家电：可行性评估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刚需换新强，但体积重、认证严、价格战烈 —— 必须精选 SKU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56692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2E4A"/>
                </a:solidFill>
                <a:latin typeface="Microsoft YaHei"/>
                <a:ea typeface="Microsoft YaHei"/>
              </a:rPr>
              <a:t>市场机会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空气炸锅、咖啡机、吸尘器、电动牙刷等需求稳定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华人批发/社群对「中国价」敏感，可做 B2B2C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适合本地备货 + 直播带货，而非纯直邮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E4A"/>
                </a:solidFill>
                <a:latin typeface="Microsoft YaHei"/>
                <a:ea typeface="Microsoft YaHei"/>
              </a:rPr>
              <a:t>产品建议（精选）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优先：110V/双电压、体积小、客单 R$150–400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推荐：迷你空气炸锅、料理棒、宠物吹水机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避开：大型厨电、无 INMETRO 认证高风险品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532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C45C26"/>
                </a:solidFill>
                <a:latin typeface="Microsoft YaHei"/>
                <a:ea typeface="Microsoft YaHei"/>
              </a:rPr>
              <a:t>关键风险与对策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INMETRO / ANATEL 等认证：强制合规成本高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海运周期长、压货风险大，SKU 必须少而精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售后：电压、插头、保修本地化是转化关键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平台价格战：与 Mercado Livre 大卖硬刚难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D6A4F"/>
                </a:solidFill>
                <a:latin typeface="Microsoft YaHei"/>
                <a:ea typeface="Microsoft YaHei"/>
              </a:rPr>
              <a:t>结论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D4A017"/>
                </a:solidFill>
                <a:latin typeface="Microsoft YaHei"/>
                <a:ea typeface="Microsoft YaHei"/>
              </a:rPr>
              <a:t>可行性：中（5.9/10）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建议：不作为启动期主力；落地后选 3–5 个爆款做本本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目标毛利率：25%–40%（本地备货口径）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02B · 小家电：成本与利润拆解（单件示例）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假设「迷你空气炸锅」：FOB ¥95 ≈ R$76；本地零售 R$299；海运整柜摊销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E4A"/>
                </a:solidFill>
                <a:latin typeface="Microsoft YaHei"/>
                <a:ea typeface="Microsoft YaHei"/>
              </a:rPr>
              <a:t>单件成本结构（售价 R$299 · 本地备货）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FOB 采购成本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91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377"/>
                </a:solidFill>
                <a:latin typeface="Microsoft YaHei"/>
                <a:ea typeface="Microsoft YaHei"/>
              </a:rPr>
              <a:t>R$ 76.0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25.4%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海运+保险+港杂（摊销）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377"/>
                </a:solidFill>
                <a:latin typeface="Microsoft YaHei"/>
                <a:ea typeface="Microsoft YaHei"/>
              </a:rPr>
              <a:t>R$ 28.0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进口税+ICMS+杂费（整柜）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697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377"/>
                </a:solidFill>
                <a:latin typeface="Microsoft YaHei"/>
                <a:ea typeface="Microsoft YaHei"/>
              </a:rPr>
              <a:t>R$ 55.0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697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18.4%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仓储+尾程配送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00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377"/>
                </a:solidFill>
                <a:latin typeface="Microsoft YaHei"/>
                <a:ea typeface="Microsoft YaHei"/>
              </a:rPr>
              <a:t>R$ 22.0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7.4%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平台佣金+支付（约 16%）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03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377"/>
                </a:solidFill>
                <a:latin typeface="Microsoft YaHei"/>
                <a:ea typeface="Microsoft YaHei"/>
              </a:rPr>
              <a:t>R$ 47.8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703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16.0%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广告（约 10%）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206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377"/>
                </a:solidFill>
                <a:latin typeface="Microsoft YaHei"/>
                <a:ea typeface="Microsoft YaHei"/>
              </a:rPr>
              <a:t>R$ 29.9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10.0%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售后保修预留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709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377"/>
                </a:solidFill>
                <a:latin typeface="Microsoft YaHei"/>
                <a:ea typeface="Microsoft YaHei"/>
              </a:rPr>
              <a:t>R$ 12.0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4.0%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1097280"/>
            <a:ext cx="4343400" cy="5029200"/>
          </a:xfrm>
          <a:prstGeom prst="round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79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单件利润测算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EEE"/>
                </a:solidFill>
                <a:latin typeface="Microsoft YaHei"/>
                <a:ea typeface="Microsoft YaHei"/>
              </a:rPr>
              <a:t>售价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965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R$ 299.0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2441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EEE"/>
                </a:solidFill>
                <a:latin typeface="Microsoft YaHei"/>
                <a:ea typeface="Microsoft YaHei"/>
              </a:rPr>
              <a:t>变动成本合计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441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R$ 270.7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29169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EEE"/>
                </a:solidFill>
                <a:latin typeface="Microsoft YaHei"/>
                <a:ea typeface="Microsoft YaHei"/>
              </a:rPr>
              <a:t>单件贡献毛利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9169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R$ 28.3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33924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EEE"/>
                </a:solidFill>
                <a:latin typeface="Microsoft YaHei"/>
                <a:ea typeface="Microsoft YaHei"/>
              </a:rPr>
              <a:t>贡献毛利率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3924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约 9.5%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3867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EEE"/>
                </a:solidFill>
                <a:latin typeface="Microsoft YaHei"/>
                <a:ea typeface="Microsoft YaHei"/>
              </a:rPr>
              <a:t>月销 200 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867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毛利 ≈ R$ 5,660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EEEE"/>
                </a:solidFill>
                <a:latin typeface="Microsoft YaHei"/>
                <a:ea typeface="Microsoft YaHei"/>
              </a:rPr>
              <a:t>月销 400 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343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毛利 ≈ R$ 11,320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52120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结论：净利薄，需靠批量+配件捆绑+社群批发抬升。直邮不划算。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02C · 宠物用品：可行性评估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高增长赛道 · 复购强 · 与朋友本地洞察最匹配 —— 强烈建议并行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56692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2E4A"/>
                </a:solidFill>
                <a:latin typeface="Microsoft YaHei"/>
                <a:ea typeface="Microsoft YaHei"/>
              </a:rPr>
              <a:t>市场机会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巴西宠物家庭渗透率高，圣保罗都市养宠密度大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服饰、喂食器、清洁、玩具进口溢价空间好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耗材类（尿垫、拾便袋等）可做订阅复购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E4A"/>
                </a:solidFill>
                <a:latin typeface="Microsoft YaHei"/>
                <a:ea typeface="Microsoft YaHei"/>
              </a:rPr>
              <a:t>产品建议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直邮：项圈牵引、玩具、服饰、美容工具（轻小）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本本：自动喂食器、饮水机、航空箱、尿垫整箱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差异化：葡语包装、本地尺码、夏季透气款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532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C45C26"/>
                </a:solidFill>
                <a:latin typeface="Microsoft YaHei"/>
                <a:ea typeface="Microsoft YaHei"/>
              </a:rPr>
              <a:t>关键风险与对策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食品类监管严：首年建议规避宠物主粮进口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季节性：雨季/湿热影响服饰与垫材需求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品质差评敏感：样品测试+本地试穿试戴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• SKU 过多易积压：控制在 30–50 SKU 起步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A1A1A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2D6A4F"/>
                </a:solidFill>
                <a:latin typeface="Microsoft YaHei"/>
                <a:ea typeface="Microsoft YaHei"/>
              </a:rPr>
              <a:t>结论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D7377"/>
                </a:solidFill>
                <a:latin typeface="Microsoft YaHei"/>
                <a:ea typeface="Microsoft YaHei"/>
              </a:rPr>
              <a:t>可行性：高（7.6/10）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建议：与情趣用品并列战略品类；用朋友洞察做本地化选品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目标毛利率：40%–60%（直邮）/ 30%–45%（本本）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02C · 宠物用品：成本与利润拆解（单件示例）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假设「智能饮水机」直邮：采购 ¥42 ≈ R$34；售价 R$159（约 US$31）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E4A"/>
                </a:solidFill>
                <a:latin typeface="Microsoft YaHei"/>
                <a:ea typeface="Microsoft YaHei"/>
              </a:rPr>
              <a:t>单件成本结构（售价 R$159）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中国采购成本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91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R$ 34.0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6916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21.4%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国际运费+包装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R$ 18.0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94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11.3%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联邦进口税（≤US$50）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697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697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ICMS（约 17%）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00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R$ 23.0*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14.5%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平台佣金+支付（约 16%）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03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R$ 25.4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703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16.0%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广告投放（约 11%）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206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R$ 17.5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11.0%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09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客服/退货/损耗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709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R$ 6.4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709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4.0%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60" y="1097280"/>
            <a:ext cx="4343400" cy="50292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79" y="13716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单件利润测算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E6D4"/>
                </a:solidFill>
                <a:latin typeface="Microsoft YaHei"/>
                <a:ea typeface="Microsoft YaHei"/>
              </a:rPr>
              <a:t>售价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965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R$ 159.0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2441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E6D4"/>
                </a:solidFill>
                <a:latin typeface="Microsoft YaHei"/>
                <a:ea typeface="Microsoft YaHei"/>
              </a:rPr>
              <a:t>变动成本合计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441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R$ 124.3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29169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E6D4"/>
                </a:solidFill>
                <a:latin typeface="Microsoft YaHei"/>
                <a:ea typeface="Microsoft YaHei"/>
              </a:rPr>
              <a:t>单件贡献毛利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29169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R$ 34.7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33924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E6D4"/>
                </a:solidFill>
                <a:latin typeface="Microsoft YaHei"/>
                <a:ea typeface="Microsoft YaHei"/>
              </a:rPr>
              <a:t>贡献毛利率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3924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约 21.8%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38679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E6D4"/>
                </a:solidFill>
                <a:latin typeface="Microsoft YaHei"/>
                <a:ea typeface="Microsoft YaHei"/>
              </a:rPr>
              <a:t>月销 600 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867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毛利 ≈ R$ 20,820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4343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5E6D4"/>
                </a:solidFill>
                <a:latin typeface="Microsoft YaHei"/>
                <a:ea typeface="Microsoft YaHei"/>
              </a:rPr>
              <a:t>月销 1,200 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343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毛利 ≈ R$ 41,640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52120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耗材复购可将 LTV 提升 1.5–2.5 倍，广告可逐步降到 6%–8%。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03 · 三类商品成本利润对比一览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同一假设汇率与费率口径，便于投资决策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384048"/>
          </a:xfrm>
          <a:prstGeom prst="round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097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情趣用品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097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小家电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097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宠物用品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481328"/>
            <a:ext cx="11521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27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典型售价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527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R$ 80–180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27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R$ 200–450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527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R$ 60–200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938528"/>
            <a:ext cx="11521440" cy="438912"/>
          </a:xfrm>
          <a:prstGeom prst="rect">
            <a:avLst/>
          </a:prstGeom>
          <a:solidFill>
            <a:srgbClr val="E8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842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推荐模式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9842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直邮为主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9842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本地备货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9842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直邮+本本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395728"/>
            <a:ext cx="11521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441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采购占售价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441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18%–25%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441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22%–30%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441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18%–28%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852928"/>
            <a:ext cx="11521440" cy="438912"/>
          </a:xfrm>
          <a:prstGeom prst="rect">
            <a:avLst/>
          </a:prstGeom>
          <a:solidFill>
            <a:srgbClr val="E8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898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物流占售价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898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8%–12%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898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8%–12%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898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10%–15%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310128"/>
            <a:ext cx="11521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355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税费占售价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355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14%–18%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355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18%–28%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355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14%–18%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767328"/>
            <a:ext cx="11521440" cy="438912"/>
          </a:xfrm>
          <a:prstGeom prst="rect">
            <a:avLst/>
          </a:prstGeom>
          <a:solidFill>
            <a:srgbClr val="E8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813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平台+广告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813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25%–30%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813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24%–28%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3813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24%–28%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224528"/>
            <a:ext cx="11521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702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贡献毛利率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42702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18%–28%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2702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8%–15%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42702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18%–26%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681728"/>
            <a:ext cx="11521440" cy="438912"/>
          </a:xfrm>
          <a:prstGeom prst="rect">
            <a:avLst/>
          </a:prstGeom>
          <a:solidFill>
            <a:srgbClr val="E8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727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回本速度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4727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快（3–6月）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4727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慢（9–15月）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4727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中快（4–8月）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138928"/>
            <a:ext cx="11521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184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资金占用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184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5184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51846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596128"/>
            <a:ext cx="11521440" cy="438912"/>
          </a:xfrm>
          <a:prstGeom prst="rect">
            <a:avLst/>
          </a:prstGeom>
          <a:solidFill>
            <a:srgbClr val="F8F1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641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推荐仓位占比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91840" y="5641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40%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5641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20%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5641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E4A"/>
                </a:solidFill>
                <a:latin typeface="Microsoft YaHei"/>
                <a:ea typeface="Microsoft YaHei"/>
              </a:rPr>
              <a:t>40%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04 · 启动资金与投资结构（建议方案）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总启动资金建议：R$ 180,000 ≈ ¥ 225,000（可按 60% 起步）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03320" cy="9144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情趣用品 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45C26"/>
                </a:solidFill>
                <a:latin typeface="Microsoft YaHei"/>
                <a:ea typeface="Microsoft YaHei"/>
              </a:rPr>
              <a:t>R$ 72,000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首批货值 R$45,000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广告测试 R$18,000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样品/摄影 R$5,000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应急周转 R$4,000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143000"/>
            <a:ext cx="37033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703320" cy="914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宠物用品 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D6A4F"/>
                </a:solidFill>
                <a:latin typeface="Microsoft YaHei"/>
                <a:ea typeface="Microsoft YaHei"/>
              </a:rPr>
              <a:t>R$ 72,000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688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首批货值 R$42,000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广告测试 R$16,000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本地样品测 R$6,000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应急周转 R$8,000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43000"/>
            <a:ext cx="37033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43000"/>
            <a:ext cx="3703320" cy="9144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小家电 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7377"/>
                </a:solidFill>
                <a:latin typeface="Microsoft YaHei"/>
                <a:ea typeface="Microsoft YaHei"/>
              </a:rPr>
              <a:t>R$ 36,000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46888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精选 3–5 SKU 货值 R$25,000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认证/检测预留 R$4,000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仓储首月 R$3,000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广告 R$4,000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486400"/>
            <a:ext cx="11430000" cy="822960"/>
          </a:xfrm>
          <a:prstGeom prst="round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另建议预留：CNPJ 注册与会计 R$8,000–15,000；华人仓押金；跨境收款开通。合伙人可按「资金 : 本地运营」协商股权（常见 60:40 或 55:45）。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04 · 12 个月情景损益（合并三类）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中性情景：稳健爬坡；不包含汇率大幅波动与税制突变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11430000" cy="411480"/>
          </a:xfrm>
          <a:prstGeom prst="round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143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月GMV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143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贡献毛利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143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固定成本*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143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月净利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00200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09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M1–M2 测品期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709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R$ 35,000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709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R$ 6,000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709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R$ 8,000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1709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33A3A"/>
                </a:solidFill>
                <a:latin typeface="Microsoft YaHei"/>
                <a:ea typeface="Microsoft YaHei"/>
              </a:rPr>
              <a:t>−R$ 2,000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94560"/>
            <a:ext cx="11430000" cy="548640"/>
          </a:xfrm>
          <a:prstGeom prst="rect">
            <a:avLst/>
          </a:prstGeom>
          <a:solidFill>
            <a:srgbClr val="E6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M3–M4 起量期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R$ 80,000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R$ 15,000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R$ 9,500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R$ 5,500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88920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898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M5–M6 优化期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2898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R$ 140,000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898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R$ 28,000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898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R$ 11,000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898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R$ 17,000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83280"/>
            <a:ext cx="11430000" cy="548640"/>
          </a:xfrm>
          <a:prstGeom prst="rect">
            <a:avLst/>
          </a:prstGeom>
          <a:solidFill>
            <a:srgbClr val="E6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493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M7–M9 稳定期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493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R$ 220,000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493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R$ 45,000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493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R$ 14,000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493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R$ 31,000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977639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08736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M10–M12 扩张期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408736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R$ 300,000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08736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R$ 62,000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08736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R$ 16,000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408736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4F"/>
                </a:solidFill>
                <a:latin typeface="Microsoft YaHei"/>
                <a:ea typeface="Microsoft YaHei"/>
              </a:rPr>
              <a:t>R$ 46,000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*固定成本含：兼职客服/运营、仓储基础费、会计、工具订阅、样品损耗摊销。
首年合计（中性）：GMV ≈ R$ 2.0–2.3M；贡献毛利 ≈ R$ 400–450k；净利润 ≈ R$ 220–280k（约投资额 1.2–1.6 倍回报，含回本）。
乐观情景净利可至 R$ 350k+；悲观（广告失灵/清关延误）可能仅打平——故强调测品纪律与爆款聚焦。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04 · 分品类 12 个月投资回报（中性情景）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按建议仓位拆分测算，便于决定加减仓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3703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03320" cy="822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情趣用品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投入 R$72k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年 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R$ 900k–1.0M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年贡献毛利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36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R$ 190–220k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年净利（分摊后）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22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R$ 110–140k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投资回报倍数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07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约 1.5–1.9x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回本周期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93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约 4–6 个月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097280"/>
            <a:ext cx="3703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097280"/>
            <a:ext cx="3703320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宠物用品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投入 R$72k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2194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年 GMV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R$ 750–900k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年贡献毛利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136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R$ 160–190k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年净利（分摊后）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822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R$ 90–120k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投资回报倍数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507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约 1.3–1.7x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937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回本周期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193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约 5–7 个月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1097280"/>
            <a:ext cx="37033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1097280"/>
            <a:ext cx="3703320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小家电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</a:rPr>
              <a:t>投入 R$36k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194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年 GMV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R$ 280–350k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880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年贡献毛利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136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R$ 30–45k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年净利（分摊后）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822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R$ 5–20k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投资回报倍数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507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约 0.2–0.6x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937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icrosoft YaHei"/>
                <a:ea typeface="Microsoft YaHei"/>
              </a:rPr>
              <a:t>回本周期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193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约 10–15 个月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05 · 风险矩阵与应对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先控「会致命」的风险，再优化利润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1521440" cy="384048"/>
          </a:xfrm>
          <a:prstGeom prst="round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097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影响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097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概率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应对策略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08760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733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税制政策变动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6733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33A3A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733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33A3A"/>
                </a:solidFill>
                <a:latin typeface="Microsoft YaHei"/>
                <a:ea typeface="Microsoft YaHei"/>
              </a:rPr>
              <a:t>中高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60020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客单卡在 US$45 内；SKU 可切换本本；保留 2 个月现金缓冲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40280"/>
            <a:ext cx="11521440" cy="658368"/>
          </a:xfrm>
          <a:prstGeom prst="rect">
            <a:avLst/>
          </a:prstGeom>
          <a:solidFill>
            <a:srgbClr val="E8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048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平台封店/审核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4048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33A3A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4048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33172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多平台账号；合规主图文案；情趣类独立店铺策略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71800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363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物流延误/丢件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1363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1363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33A3A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06324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双物流商；投保；爆款本地备货降低直邮依赖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03320"/>
            <a:ext cx="11521440" cy="658368"/>
          </a:xfrm>
          <a:prstGeom prst="rect">
            <a:avLst/>
          </a:prstGeom>
          <a:solidFill>
            <a:srgbClr val="E8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679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汇率波动（BRL）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8679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8679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79476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周结汇；定价含 5%–8% 汇损缓冲；本地收款 PIX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434840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994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库存积压（家电）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5994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5994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33A3A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52628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SKU≤5；先预售/社群意向；滞销清仓机制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166360"/>
            <a:ext cx="11521440" cy="658368"/>
          </a:xfrm>
          <a:prstGeom prst="rect">
            <a:avLst/>
          </a:prstGeom>
          <a:solidFill>
            <a:srgbClr val="E8E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30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E4A"/>
                </a:solidFill>
                <a:latin typeface="Microsoft YaHei"/>
                <a:ea typeface="Microsoft YaHei"/>
              </a:rPr>
              <a:t>合伙分歧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53309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017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3309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33A3A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25780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</a:rPr>
              <a:t>书面协议：出资、分红、退出、竞业；月度经营看板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05 · 90 天执行路线图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朋友本地落地 + 国内供应链，分工明确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37033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03320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第 1–30 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377"/>
                </a:solidFill>
                <a:latin typeface="Microsoft YaHei"/>
                <a:ea typeface="Microsoft YaHei"/>
              </a:rPr>
              <a:t>筑基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确定合伙协议与出资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开通平台+收款+CNPJ路径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情趣/宠物各选 20 SKU 下样品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朋友调研：本地竞品价、痛点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143000"/>
            <a:ext cx="37033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703320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第 31–60 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5C26"/>
                </a:solidFill>
                <a:latin typeface="Microsoft YaHei"/>
                <a:ea typeface="Microsoft YaHei"/>
              </a:rPr>
              <a:t>测品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7744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直邮上架 30–40 SKU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广告小预算测 ROI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淘汰差评/低转化款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锁定 8–12 个潜力爆款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43000"/>
            <a:ext cx="37033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43000"/>
            <a:ext cx="3703320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第 61–90 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6A4F"/>
                </a:solidFill>
                <a:latin typeface="Microsoft YaHei"/>
                <a:ea typeface="Microsoft YaHei"/>
              </a:rPr>
              <a:t>放量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37744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爆款加广告与评价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评估首批海运本本清单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小家电仅导入验证过的 1–2 款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• 复盘并决定是否追加投资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669280"/>
            <a:ext cx="11430000" cy="640080"/>
          </a:xfrm>
          <a:prstGeom prst="round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决策原则：连续 2 周广告 ROI &lt; 1.2 的 SKU 立即停投；单品月销未破 50 单不备货；小家电未验证不扩柜。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4A"/>
                </a:solidFill>
                <a:latin typeface="Microsoft YaHei"/>
                <a:ea typeface="Microsoft YaHei"/>
              </a:rPr>
              <a:t>总结建议 · 给合伙人的决策页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Microsoft YaHei"/>
                <a:ea typeface="Microsoft YaHei"/>
              </a:rPr>
              <a:t>一句话：情趣 + 宠物双轮驱动，小家电精选陪跑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43000"/>
            <a:ext cx="56235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37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417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仓位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288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情趣用品 40% + 宠物用品 40% + 小家电 20%，避免家电拖垮现金流。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6235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37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17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8288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前 3 个月跨境直邮测品；朋友负责本地洞察、客服葡语、本本落地。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697480"/>
            <a:ext cx="56235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37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71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定价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832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尽量卡在 US$50 以下；展示价含税清晰，减少弃单。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97480"/>
            <a:ext cx="56235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37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971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利润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3832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直邮贡献毛利目标 ≥20%；低于 15% 的 SKU 不做。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251960"/>
            <a:ext cx="56235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80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37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26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资金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377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建议启动 R$180k；若预算紧可先 R$100–120k 只做情趣+宠物。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251960"/>
            <a:ext cx="56235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480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377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526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4A"/>
                </a:solidFill>
                <a:latin typeface="Microsoft YaHei"/>
                <a:ea typeface="Microsoft YaHei"/>
              </a:rPr>
              <a:t>合规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9377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</a:rPr>
              <a:t>情趣类包装中性、文案合规；家电认清 INMETRO；宠物暂不做主粮。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巴西圣保罗跨境电商 · 投资回报计划书 · 机密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Microsoft YaHei"/>
                <a:ea typeface="Microsoft YaHe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附录说明与免责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D0EEEE"/>
                </a:solidFill>
                <a:latin typeface="Microsoft YaHei"/>
                <a:ea typeface="Microsoft YaHei"/>
              </a:rPr>
              <a:t>• 本计划书为商业可行性情景测算，非财务审计或法律意见。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D0EEEE"/>
                </a:solidFill>
                <a:latin typeface="Microsoft YaHei"/>
                <a:ea typeface="Microsoft YaHei"/>
              </a:rPr>
              <a:t>• 汇率按约 1 CNY ≈ 0.80 BRL、1 USD ≈ 5.1 BRL 量级估算，实操需按当日牌价调整。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D0EEEE"/>
                </a:solidFill>
                <a:latin typeface="Microsoft YaHei"/>
                <a:ea typeface="Microsoft YaHei"/>
              </a:rPr>
              <a:t>• 税费（联邦税、ICMS、平台代扣）随 Remessa Conforme 政策与所在州法规变化，请以官方与会计师意见为准。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D0EEEE"/>
                </a:solidFill>
                <a:latin typeface="Microsoft YaHei"/>
                <a:ea typeface="Microsoft YaHei"/>
              </a:rPr>
              <a:t>• 情趣用品须遵守平台与当地广告/内容规范；禁止向未成年人销售。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D0EEEE"/>
                </a:solidFill>
                <a:latin typeface="Microsoft YaHei"/>
                <a:ea typeface="Microsoft YaHei"/>
              </a:rPr>
              <a:t>• 建议开业前咨询巴西会计师（Contador）与熟悉跨境的华人货代。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D0EEEE"/>
                </a:solidFill>
                <a:latin typeface="Microsoft YaHei"/>
                <a:ea typeface="Microsoft YaHei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D0EEEE"/>
                </a:solidFill>
                <a:latin typeface="Microsoft YaHei"/>
                <a:ea typeface="Microsoft YaHei"/>
              </a:rPr>
              <a:t>祝你们在圣保罗把生意做成 —— 先活下来，再谈扩张。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919B"/>
                </a:solidFill>
                <a:latin typeface="Microsoft YaHei"/>
                <a:ea typeface="Microsoft YaHei"/>
              </a:rPr>
              <a:t>文件：巴西圣保罗跨境电商_投资回报计划书.pptx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